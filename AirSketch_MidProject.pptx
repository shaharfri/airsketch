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AirSketch is an air-drawing classroom application. Using only a webcam, the student draws shapes in the air with their index finger; the system tracks the finger, recognizes the shape, and a teacher/student challenge game grades the drawing with a score and stars. Around that core we added voice control, a whiteboard-capture feature that reads the board with OCR and summarizes it with a small language model, speaker-gated teacher dictation, and an auto-generated HTML lesson report. Motivation: a hands-free, engaging way to practise shapes and capture a lesson — and a technical goal of running ALL the AI on Intel hardware through OpenVINO (CPU/GPU/NPU). This is the mid-project checkpoint; course and team details to be filled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data flow. TOP ROW — the game: the webcam frame goes to the MediaPipe hand tracker (21 landmarks); an angle-based detector decides 'pen down' when the index finger points; the fingertip path is captured as strokes; each stroke is classified two ways — a geometric primitive classifier for shapes and a Quick-Draw CNN for objects; the Judge compares the drawing to the challenge target and returns a 0-100 score and 0-3 stars, with a celebration animation. SECOND ROW — capturing the board: press B, the current camera frame is sent to PP-OCR (running on OpenVINO) which transcribes the text, then a small Qwen language model turns that text into a topic + summary + key points; everything lands in a self-contained HTML lesson report. SIDE INPUTS — voice commands (V) drive the game via Whisper; teacher dictation (D/L) is gated by speaker recognition so only the enrolled teacher's narration is saved. The key architectural point: every model in this diagram runs on the OpenVINO runtime and the device (CPU/GPU/NPU) is selectable — the one exception is hand tracking, which we cover on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working and demonstrable today. Evidence from the codebase: Hand tracking + drawing — hand_tracker.py (MediaPipe) + gesture_detector.py drive stroke capture in the classroom loop. Recognition — primitive_classifier.py plus a trained Quick-Draw CNN (sketch_classifier.py, models/sketch_classifier.xml) reported at 96% test accuracy, 12 classes. Game — classroom/app.py state machine (READY→ANNOUNCE→DRAWING→RESULT), judge.py scoring, celebration.py, plus a retry option. Voice — voice.py runs Whisper on OpenVINO-GenAI; we fixed a real intermittent bug (an uninitialized audio buffer producing garbage). Board OCR — ocr_reader.py runs PaddleOCR PP-OCRv5 on OpenVINO; verified near-perfect transcription on a test board. AI summary — lesson_llm.py runs Qwen2.5-3B and returned a correct topic + summary on that board. Report — exporter.py writes a self-contained HTML lesson report, written incrementally so it is never lost. Tests — 105 pytest tests pass. Demo tip: run the classroom, draw a few shapes, press B on a printed page, then quit to open the generated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status of the gaps. Hand tracking is the big one — it is the ONLY model not on OpenVINO; it still uses MediaPipe on the CPU, so it isn't GPU/NPU-accelerated. We've written a full design doc to port it (OPENVINO_HAND_TRACKING_PLAN.md) and verified the models can load on OpenVINO, but it isn't implemented. Teacher-voice recognition works mechanically (WeSpeaker embeddings + cosine threshold) but the 0.5 threshold and single-utterance enrollment still need tuning on real microphones — marked to-be-verified. NPU: OpenVINO supports it, but dynamic-shape models (PP-OCR detection, Whisper, the LLM) may not compile on NPU and fall back to CPU/GPU; only fixed-shape models are safe there. VDI microphone: on the remote-desktop environment the redirected mic can deliver no audio — an environment limitation, not a code bug. The notebook-mode VLM (Qwen2-VL) cannot reliably read text, which is exactly why board capture uses OCR instead. LCM image generation exists in the repo but is not wired into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to the final presentation, in priority order. (1) Port hand tracking to OpenVINO — the plan is written and the two MediaPipe sub-models already load on OpenVINO; this is the headline item because it makes the entire pipeline OpenVINO and unlocks GPU/NPU for tracking. (2) Tune the teacher-voice recognition on a real microphone — adjust the acceptance threshold and possibly use multiple enrollment samples for robustness. (3) Validate NPU execution — reshape the fixed-shape models to static and confirm they run on the NPU, with graceful fallback for the dynamic ones. (4) Polish: loosen the freehand-triangle judging that occasionally misfires, tidy the UI, and rehearse a smooth end-to-end classroom demo. Stretch: wire the LCM image generation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technical choices. Tracking uses Google MediaPipe Tasks (21 hand landmarks) with our own angle-based 'index pointing = pen down' detector. Recognition is two-tier: a hand-written geometric classifier for primitives, and a Quick-Draw CNN we trained ourselves (PyTorch for training, exported to OpenVINO IR for inference). Voice is OpenAI Whisper running through OpenVINO-GenAI, push-to-talk to avoid a camera+mic conflict. Board OCR is PaddleOCR's PP-OCRv5 detection+recognition models in ONNX, run on OpenVINO — we hand-wrote the DB detection post-processing and CTC decoding in NumPy, with no PaddlePaddle dependency. Understanding uses Qwen2.5-3B-Instruct INT4 via OpenVINO-GenAI to summarize the OCR text. Speaker ID uses a WeSpeaker ResNet34 embedding model on OpenVINO with cosine similarity to gate dictation to the enrolled teacher. The unifying design decision: standardize every model on the OpenVINO runtime so devices are interchangeable; glue/UI is plain Python + OpenCV + NumPy, with a 105-test pytest suite guarding the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Wrap-up. Where we are NOW: the full loop works — draw, recognize, judge, score; capture a whiteboard with OCR and summarize it with an on-device LLM; voice commands and speaker-gated dictation; and an automatic HTML lesson report. 105 tests pass and almost everything already runs on OpenVINO. Biggest CHALLENGES so far: a subtle voice-capture bug (uninitialized buffer), discovering that the small vision-language model could not read text (which pushed us to a proper OCR pipeline), and clean process/camera shutdown. For the FINAL: port hand tracking to OpenVINO so the whole system is Intel CPU/GPU/NPU end-to-end, tune the teacher-voice recognition on real hardware, validate NPU execution, and present a polished classroom run-through that ends with the generated lesson report. Three takeaways: the end-to-end pipeline works; all AI is on OpenVINO with a single remaining gap; and we have a concrete, documented path to the final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4480560"/>
            <a:ext cx="91440" cy="91440"/>
          </a:xfrm>
          <a:prstGeom prst="ellipse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43900" y="4156710"/>
            <a:ext cx="98298" cy="98298"/>
          </a:xfrm>
          <a:prstGeom prst="ellipse">
            <a:avLst/>
          </a:prstGeom>
          <a:solidFill>
            <a:srgbClr val="0E7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32519" y="3844212"/>
            <a:ext cx="105156" cy="105156"/>
          </a:xfrm>
          <a:prstGeom prst="ellipse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21140" y="3554021"/>
            <a:ext cx="112014" cy="112014"/>
          </a:xfrm>
          <a:prstGeom prst="ellipse">
            <a:avLst/>
          </a:prstGeom>
          <a:solidFill>
            <a:srgbClr val="0E7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59" y="3296308"/>
            <a:ext cx="118872" cy="118872"/>
          </a:xfrm>
          <a:prstGeom prst="ellipse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98380" y="3080106"/>
            <a:ext cx="125730" cy="125730"/>
          </a:xfrm>
          <a:prstGeom prst="ellipse">
            <a:avLst/>
          </a:prstGeom>
          <a:solidFill>
            <a:srgbClr val="0E7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0" y="2912996"/>
            <a:ext cx="132588" cy="132588"/>
          </a:xfrm>
          <a:prstGeom prst="ellipse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75619" y="2800834"/>
            <a:ext cx="139446" cy="139446"/>
          </a:xfrm>
          <a:prstGeom prst="ellipse">
            <a:avLst/>
          </a:prstGeom>
          <a:solidFill>
            <a:srgbClr val="0E7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0" y="2747552"/>
            <a:ext cx="146304" cy="146304"/>
          </a:xfrm>
          <a:prstGeom prst="ellipse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5-Point Star 11"/>
          <p:cNvSpPr/>
          <p:nvPr/>
        </p:nvSpPr>
        <p:spPr>
          <a:xfrm>
            <a:off x="10698480" y="1554480"/>
            <a:ext cx="914400" cy="914400"/>
          </a:xfrm>
          <a:prstGeom prst="star5">
            <a:avLst/>
          </a:prstGeom>
          <a:noFill/>
          <a:ln w="25400">
            <a:solidFill>
              <a:srgbClr val="13B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77724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Trebuchet MS"/>
              </a:rPr>
              <a:t>AirSketch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63240"/>
            <a:ext cx="8229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3B5A6"/>
                </a:solidFill>
                <a:latin typeface="Calibri"/>
              </a:rPr>
              <a:t>Draw in the air — the classroom learns to 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8686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7D0DA"/>
                </a:solidFill>
                <a:latin typeface="Calibri"/>
              </a:rPr>
              <a:t>Gesture drawing · challenge game · voice · whiteboard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00600"/>
            <a:ext cx="2743200" cy="548640"/>
          </a:xfrm>
          <a:prstGeom prst="roundRect">
            <a:avLst>
              <a:gd name="adj" fmla="val 9000"/>
            </a:avLst>
          </a:prstGeom>
          <a:solidFill>
            <a:srgbClr val="17222E"/>
          </a:solidFill>
          <a:ln w="12700">
            <a:solidFill>
              <a:srgbClr val="2A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873752"/>
            <a:ext cx="64008" cy="402335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2560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Mid-Project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800600"/>
            <a:ext cx="3108960" cy="548640"/>
          </a:xfrm>
          <a:prstGeom prst="roundRect">
            <a:avLst>
              <a:gd name="adj" fmla="val 9000"/>
            </a:avLst>
          </a:prstGeom>
          <a:solidFill>
            <a:srgbClr val="17222E"/>
          </a:solidFill>
          <a:ln w="12700">
            <a:solidFill>
              <a:srgbClr val="2A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4760" y="4873752"/>
            <a:ext cx="64008" cy="402335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4800600"/>
            <a:ext cx="29260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7D0DA"/>
                </a:solidFill>
                <a:latin typeface="Calibri"/>
              </a:rPr>
              <a:t>Course / Team: to be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E2733"/>
                </a:solidFill>
                <a:latin typeface="Trebuchet MS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787"/>
                </a:solidFill>
                <a:latin typeface="Calibri"/>
              </a:rPr>
              <a:t>camera in  →  graded drawing  +  lesson report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3B5A6"/>
                </a:solidFill>
                <a:latin typeface="Calibri"/>
              </a:rPr>
              <a:t>DRAW  →  GRADE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711" y="1783080"/>
            <a:ext cx="1627632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711" y="1856231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439" y="1783080"/>
            <a:ext cx="14630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Webcam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99919" y="2130552"/>
            <a:ext cx="237744" cy="146304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4239" y="1783080"/>
            <a:ext cx="1627632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4239" y="1856231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3967" y="1783080"/>
            <a:ext cx="14630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Hand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gesture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38447" y="2130552"/>
            <a:ext cx="237744" cy="146304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2767" y="1783080"/>
            <a:ext cx="1627632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1856231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2495" y="1783080"/>
            <a:ext cx="14630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Strokes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76975" y="2130552"/>
            <a:ext cx="237744" cy="146304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51295" y="1783080"/>
            <a:ext cx="1627632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1295" y="1856231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1023" y="1783080"/>
            <a:ext cx="14630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Recognize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geom + CNN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15503" y="2130552"/>
            <a:ext cx="237744" cy="146304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9823" y="1783080"/>
            <a:ext cx="1627632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9823" y="1856231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9551" y="1783080"/>
            <a:ext cx="14630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Judge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54031" y="2130552"/>
            <a:ext cx="237744" cy="146304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28351" y="1783080"/>
            <a:ext cx="1627632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28351" y="1856231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38079" y="1783080"/>
            <a:ext cx="146304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Score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3B5A6"/>
                </a:solidFill>
                <a:latin typeface="Calibri"/>
              </a:rPr>
              <a:t>CAPTURE THE 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8943" y="3474720"/>
            <a:ext cx="224028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48943" y="3547872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58671" y="3474720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Board (B)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425799" y="3822191"/>
            <a:ext cx="237744" cy="146304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00119" y="3474720"/>
            <a:ext cx="224028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00119" y="3547872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09847" y="3474720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PP-OCR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76975" y="3822191"/>
            <a:ext cx="237744" cy="146304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51295" y="3474720"/>
            <a:ext cx="224028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51295" y="3547872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1023" y="3474720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Qwen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summary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528151" y="3822191"/>
            <a:ext cx="237744" cy="146304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02471" y="3474720"/>
            <a:ext cx="2240280" cy="8412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02471" y="3547872"/>
            <a:ext cx="64008" cy="69494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2199" y="3474720"/>
            <a:ext cx="2075688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Lesson report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33"/>
                </a:solidFill>
                <a:latin typeface="Calibri"/>
              </a:rPr>
              <a:t>(HTML)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80160" y="4892040"/>
            <a:ext cx="448056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80160" y="4965192"/>
            <a:ext cx="64008" cy="420623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4892040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733"/>
                </a:solidFill>
                <a:latin typeface="Calibri"/>
              </a:rPr>
              <a:t>Voice (V):  spoken commands steer the game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892040"/>
            <a:ext cx="4480560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4965192"/>
            <a:ext cx="64008" cy="420623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4892040"/>
            <a:ext cx="4206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733"/>
                </a:solidFill>
                <a:latin typeface="Calibri"/>
              </a:rPr>
              <a:t>Teacher voice (D / L):  speaker-gated dictation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08960" y="5806440"/>
            <a:ext cx="5943600" cy="502920"/>
          </a:xfrm>
          <a:prstGeom prst="roundRect">
            <a:avLst>
              <a:gd name="adj" fmla="val 9000"/>
            </a:avLst>
          </a:prstGeom>
          <a:solidFill>
            <a:srgbClr val="E7F6F4"/>
          </a:solidFill>
          <a:ln w="12700">
            <a:solidFill>
              <a:srgbClr val="B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0" y="5806440"/>
            <a:ext cx="59436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E7E74"/>
                </a:solidFill>
                <a:latin typeface="Calibri"/>
              </a:rPr>
              <a:t>All models run on OpenVINO  ·  CPU / GPU / NPU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787"/>
                </a:solidFill>
                <a:latin typeface="Calibri"/>
              </a:rPr>
              <a:t>AirSketch  ·  Mid-Project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E2733"/>
                </a:solidFill>
                <a:latin typeface="Trebuchet MS"/>
              </a:rPr>
              <a:t>What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787"/>
                </a:solidFill>
                <a:latin typeface="Calibri"/>
              </a:rPr>
              <a:t>implemented &amp; tested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21208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73352"/>
            <a:ext cx="64008" cy="603503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1874520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7" y="1600200"/>
            <a:ext cx="44348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2733"/>
                </a:solidFill>
                <a:latin typeface="Calibri"/>
              </a:rPr>
              <a:t>Hand tracking + air drawing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521208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73352"/>
            <a:ext cx="64008" cy="603503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56832" y="1874520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600200"/>
            <a:ext cx="44348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2733"/>
                </a:solidFill>
                <a:latin typeface="Calibri"/>
              </a:rPr>
              <a:t>Shapes + objects  ·  CNN 96%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06040"/>
            <a:ext cx="521208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679192"/>
            <a:ext cx="64008" cy="603503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1" y="2880360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5607" y="2606040"/>
            <a:ext cx="44348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2733"/>
                </a:solidFill>
                <a:latin typeface="Calibri"/>
              </a:rPr>
              <a:t>Challenge game  ·  score / stars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06040"/>
            <a:ext cx="521208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679192"/>
            <a:ext cx="64008" cy="603503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56832" y="2880360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2606040"/>
            <a:ext cx="44348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2733"/>
                </a:solidFill>
                <a:latin typeface="Calibri"/>
              </a:rPr>
              <a:t>Voice commands  ·  Whisper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11880"/>
            <a:ext cx="521208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685032"/>
            <a:ext cx="64008" cy="603503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1" y="3886200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35607" y="3611880"/>
            <a:ext cx="44348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2733"/>
                </a:solidFill>
                <a:latin typeface="Calibri"/>
              </a:rPr>
              <a:t>Whiteboard OCR  ·  PP-OCR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611880"/>
            <a:ext cx="521208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685032"/>
            <a:ext cx="64008" cy="603503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56832" y="3886200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9168" y="3611880"/>
            <a:ext cx="44348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2733"/>
                </a:solidFill>
                <a:latin typeface="Calibri"/>
              </a:rPr>
              <a:t>AI lesson summary  ·  Qwen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617720"/>
            <a:ext cx="521208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690872"/>
            <a:ext cx="64008" cy="603503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1" y="4892040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35607" y="4617720"/>
            <a:ext cx="44348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2733"/>
                </a:solidFill>
                <a:latin typeface="Calibri"/>
              </a:rPr>
              <a:t>Lesson report  ·  HTML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617720"/>
            <a:ext cx="521208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690872"/>
            <a:ext cx="64008" cy="603503"/>
          </a:xfrm>
          <a:prstGeom prst="rect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656832" y="4892040"/>
            <a:ext cx="201168" cy="20116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617720"/>
            <a:ext cx="443484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E2733"/>
                </a:solidFill>
                <a:latin typeface="Calibri"/>
              </a:rPr>
              <a:t>105 tests passing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787"/>
                </a:solidFill>
                <a:latin typeface="Calibri"/>
              </a:rPr>
              <a:t>AirSketch  ·  Mid-Project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E2733"/>
                </a:solidFill>
                <a:latin typeface="Trebuchet MS"/>
              </a:rPr>
              <a:t>Not working yet  /  partial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787"/>
                </a:solidFill>
                <a:latin typeface="Calibri"/>
              </a:rPr>
              <a:t>known gaps &amp;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521208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64008" cy="640080"/>
          </a:xfrm>
          <a:prstGeom prst="rect">
            <a:avLst/>
          </a:prstGeom>
          <a:solidFill>
            <a:srgbClr val="DD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4983" y="1874519"/>
            <a:ext cx="182880" cy="182880"/>
          </a:xfrm>
          <a:prstGeom prst="ellipse">
            <a:avLst/>
          </a:prstGeom>
          <a:solidFill>
            <a:srgbClr val="DD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664208"/>
            <a:ext cx="3291840" cy="6949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733"/>
                </a:solidFill>
                <a:latin typeface="Calibri"/>
              </a:rPr>
              <a:t>Hand tracking on OpenVINO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787"/>
                </a:solidFill>
                <a:latin typeface="Calibri"/>
              </a:rPr>
              <a:t>still MediaPipe /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5" y="1773936"/>
            <a:ext cx="123444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DD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5" y="1773936"/>
            <a:ext cx="1234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D5A4F"/>
                </a:solidFill>
                <a:latin typeface="Calibri"/>
              </a:rPr>
              <a:t>MISSING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72768"/>
            <a:ext cx="521208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64008" cy="640080"/>
          </a:xfrm>
          <a:prstGeom prst="rect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38544" y="1874519"/>
            <a:ext cx="182880" cy="182880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664208"/>
            <a:ext cx="3291840" cy="6949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733"/>
                </a:solidFill>
                <a:latin typeface="Calibri"/>
              </a:rPr>
              <a:t>Teacher-voice accuracy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787"/>
                </a:solidFill>
                <a:latin typeface="Calibri"/>
              </a:rPr>
              <a:t>threshold needs tuning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32136" y="1773936"/>
            <a:ext cx="123444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89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32136" y="1773936"/>
            <a:ext cx="1234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973A"/>
                </a:solidFill>
                <a:latin typeface="Calibri"/>
              </a:rPr>
              <a:t>PARTIAL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96896"/>
            <a:ext cx="521208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670048"/>
            <a:ext cx="64008" cy="640080"/>
          </a:xfrm>
          <a:prstGeom prst="rect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3" y="2898648"/>
            <a:ext cx="182880" cy="182880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2688336"/>
            <a:ext cx="3291840" cy="6949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733"/>
                </a:solidFill>
                <a:latin typeface="Calibri"/>
              </a:rPr>
              <a:t>NPU  ·  dynamic-shape models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787"/>
                </a:solidFill>
                <a:latin typeface="Calibri"/>
              </a:rPr>
              <a:t>OCR / LLM may fall 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8575" y="2798064"/>
            <a:ext cx="123444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89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5" y="2798064"/>
            <a:ext cx="1234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973A"/>
                </a:solidFill>
                <a:latin typeface="Calibri"/>
              </a:rPr>
              <a:t>PARTIAL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596896"/>
            <a:ext cx="521208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670048"/>
            <a:ext cx="64008" cy="640080"/>
          </a:xfrm>
          <a:prstGeom prst="rect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38544" y="2898648"/>
            <a:ext cx="182880" cy="182880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2688336"/>
            <a:ext cx="3291840" cy="6949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733"/>
                </a:solidFill>
                <a:latin typeface="Calibri"/>
              </a:rPr>
              <a:t>VDI microphone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787"/>
                </a:solidFill>
                <a:latin typeface="Calibri"/>
              </a:rPr>
              <a:t>redirected mic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32136" y="2798064"/>
            <a:ext cx="123444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89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32136" y="2798064"/>
            <a:ext cx="1234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973A"/>
                </a:solidFill>
                <a:latin typeface="Calibri"/>
              </a:rPr>
              <a:t>UNSTABLE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621024"/>
            <a:ext cx="521208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3694176"/>
            <a:ext cx="64008" cy="640080"/>
          </a:xfrm>
          <a:prstGeom prst="rect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4983" y="3922776"/>
            <a:ext cx="182880" cy="182880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44168" y="3712463"/>
            <a:ext cx="3291840" cy="6949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733"/>
                </a:solidFill>
                <a:latin typeface="Calibri"/>
              </a:rPr>
              <a:t>Notebook VLM reads text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787"/>
                </a:solidFill>
                <a:latin typeface="Calibri"/>
              </a:rPr>
              <a:t>Qwen2-VL can't OCR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08575" y="3822191"/>
            <a:ext cx="123444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89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8575" y="3822191"/>
            <a:ext cx="1234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8973A"/>
                </a:solidFill>
                <a:latin typeface="Calibri"/>
              </a:rPr>
              <a:t>LIMITED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621024"/>
            <a:ext cx="5212080" cy="7863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694176"/>
            <a:ext cx="64008" cy="640080"/>
          </a:xfrm>
          <a:prstGeom prst="rect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38544" y="3922776"/>
            <a:ext cx="182880" cy="182880"/>
          </a:xfrm>
          <a:prstGeom prst="ellipse">
            <a:avLst/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3712463"/>
            <a:ext cx="3291840" cy="6949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E2733"/>
                </a:solidFill>
                <a:latin typeface="Calibri"/>
              </a:rPr>
              <a:t>Image generation (LCM)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787"/>
                </a:solidFill>
                <a:latin typeface="Calibri"/>
              </a:rPr>
              <a:t>present, unused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32136" y="3822191"/>
            <a:ext cx="123444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9AA6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32136" y="3822191"/>
            <a:ext cx="1234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9AA6B2"/>
                </a:solidFill>
                <a:latin typeface="Calibri"/>
              </a:rPr>
              <a:t>NOT WIRED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787"/>
                </a:solidFill>
                <a:latin typeface="Calibri"/>
              </a:rPr>
              <a:t>AirSketch  ·  Mid-Project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E2733"/>
                </a:solidFill>
                <a:latin typeface="Trebuchet M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787"/>
                </a:solidFill>
                <a:latin typeface="Calibri"/>
              </a:rPr>
              <a:t>priorities before the final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691640"/>
            <a:ext cx="10149840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764792"/>
            <a:ext cx="64008" cy="78638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1883664"/>
            <a:ext cx="548640" cy="548640"/>
          </a:xfrm>
          <a:prstGeom prst="ellipse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83664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10512"/>
            <a:ext cx="8778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733"/>
                </a:solidFill>
                <a:latin typeface="Calibri"/>
              </a:rPr>
              <a:t>Hand tracking → OpenVINO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787"/>
                </a:solidFill>
                <a:latin typeface="Calibri"/>
              </a:rPr>
              <a:t>design ready; closes the last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807208"/>
            <a:ext cx="10149840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880360"/>
            <a:ext cx="64008" cy="786384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2999232"/>
            <a:ext cx="548640" cy="548640"/>
          </a:xfrm>
          <a:prstGeom prst="ellipse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999232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26080"/>
            <a:ext cx="8778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733"/>
                </a:solidFill>
                <a:latin typeface="Calibri"/>
              </a:rPr>
              <a:t>Tune teacher-voice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787"/>
                </a:solidFill>
                <a:latin typeface="Calibri"/>
              </a:rPr>
              <a:t>threshold + enrollment on real mic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922776"/>
            <a:ext cx="10149840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3995928"/>
            <a:ext cx="64008" cy="78638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80160" y="4114800"/>
            <a:ext cx="548640" cy="548640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041648"/>
            <a:ext cx="8778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733"/>
                </a:solidFill>
                <a:latin typeface="Calibri"/>
              </a:rPr>
              <a:t>Validate NPU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787"/>
                </a:solidFill>
                <a:latin typeface="Calibri"/>
              </a:rPr>
              <a:t>static reshape for fixed-shape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038344"/>
            <a:ext cx="10149840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5111496"/>
            <a:ext cx="64008" cy="786384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80160" y="5230368"/>
            <a:ext cx="548640" cy="548640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230368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157216"/>
            <a:ext cx="8778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E2733"/>
                </a:solidFill>
                <a:latin typeface="Calibri"/>
              </a:rPr>
              <a:t>Polish judging + demo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7787"/>
                </a:solidFill>
                <a:latin typeface="Calibri"/>
              </a:rPr>
              <a:t>leniency, UI, classroom run-through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787"/>
                </a:solidFill>
                <a:latin typeface="Calibri"/>
              </a:rPr>
              <a:t>AirSketch  ·  Mid-Project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E2733"/>
                </a:solidFill>
                <a:latin typeface="Trebuchet MS"/>
              </a:rPr>
              <a:t>How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787"/>
                </a:solidFill>
                <a:latin typeface="Calibri"/>
              </a:rPr>
              <a:t>main components &amp; model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456432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73352"/>
            <a:ext cx="64008" cy="117957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746504"/>
            <a:ext cx="304495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3B5A6"/>
                </a:solidFill>
                <a:latin typeface="Trebuchet MS"/>
              </a:rPr>
              <a:t>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67128"/>
            <a:ext cx="3044951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733"/>
                </a:solidFill>
                <a:latin typeface="Calibri"/>
              </a:rPr>
              <a:t>MediaPipe Tasks · 21 landmarks · angle gesture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62855" y="1600200"/>
            <a:ext cx="3456432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62855" y="1673352"/>
            <a:ext cx="64008" cy="117957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1746504"/>
            <a:ext cx="304495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3B5A6"/>
                </a:solidFill>
                <a:latin typeface="Trebuchet MS"/>
              </a:rPr>
              <a:t>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167128"/>
            <a:ext cx="3044951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733"/>
                </a:solidFill>
                <a:latin typeface="Calibri"/>
              </a:rPr>
              <a:t>geometric rules + Quick-Draw CNN (OpenVINO)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8471" y="1600200"/>
            <a:ext cx="3456432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48471" y="1673352"/>
            <a:ext cx="64008" cy="117957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4503" y="1746504"/>
            <a:ext cx="304495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3B5A6"/>
                </a:solidFill>
                <a:latin typeface="Trebuchet MS"/>
              </a:rPr>
              <a:t>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4503" y="2167128"/>
            <a:ext cx="3044951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733"/>
                </a:solidFill>
                <a:latin typeface="Calibri"/>
              </a:rPr>
              <a:t>Whisper · OpenVINO-GenAI · push-to-talk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18688"/>
            <a:ext cx="3456432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91840"/>
            <a:ext cx="64008" cy="117957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364992"/>
            <a:ext cx="304495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3B5A6"/>
                </a:solidFill>
                <a:latin typeface="Trebuchet MS"/>
              </a:rPr>
              <a:t>Board OCR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3785615"/>
            <a:ext cx="3044951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733"/>
                </a:solidFill>
                <a:latin typeface="Calibri"/>
              </a:rPr>
              <a:t>PP-OCRv5 ONNX → OpenVINO · DB + CTC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62855" y="3218688"/>
            <a:ext cx="3456432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62855" y="3291840"/>
            <a:ext cx="64008" cy="117957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3364992"/>
            <a:ext cx="304495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3B5A6"/>
                </a:solidFill>
                <a:latin typeface="Trebuchet MS"/>
              </a:rPr>
              <a:t>Understanding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785615"/>
            <a:ext cx="3044951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733"/>
                </a:solidFill>
                <a:latin typeface="Calibri"/>
              </a:rPr>
              <a:t>Qwen2.5-3B INT4 · OpenVINO-GenAI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48471" y="3218688"/>
            <a:ext cx="3456432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48471" y="3291840"/>
            <a:ext cx="64008" cy="117957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04503" y="3364992"/>
            <a:ext cx="304495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13B5A6"/>
                </a:solidFill>
                <a:latin typeface="Trebuchet MS"/>
              </a:rPr>
              <a:t>Speaker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4503" y="3785615"/>
            <a:ext cx="3044951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733"/>
                </a:solidFill>
                <a:latin typeface="Calibri"/>
              </a:rPr>
              <a:t>WeSpeaker embeddings · cosine 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897880"/>
            <a:ext cx="7589520" cy="502920"/>
          </a:xfrm>
          <a:prstGeom prst="roundRect">
            <a:avLst>
              <a:gd name="adj" fmla="val 9000"/>
            </a:avLst>
          </a:prstGeom>
          <a:solidFill>
            <a:srgbClr val="E7F6F4"/>
          </a:solidFill>
          <a:ln w="12700">
            <a:solidFill>
              <a:srgbClr val="BF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5897880"/>
            <a:ext cx="7589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7E74"/>
                </a:solidFill>
                <a:latin typeface="Calibri"/>
              </a:rPr>
              <a:t>Runtime: OpenVINO  ·  device-selectable  ·  Python + OpenCV + NumPy  ·  105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787"/>
                </a:solidFill>
                <a:latin typeface="Calibri"/>
              </a:rPr>
              <a:t>AirSketch  ·  Mid-Project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Trebuchet MS"/>
              </a:rPr>
              <a:t>Summary  ·  Now →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937760" cy="3108960"/>
          </a:xfrm>
          <a:prstGeom prst="roundRect">
            <a:avLst>
              <a:gd name="adj" fmla="val 9000"/>
            </a:avLst>
          </a:prstGeom>
          <a:solidFill>
            <a:srgbClr val="17222E"/>
          </a:solidFill>
          <a:ln w="12700">
            <a:solidFill>
              <a:srgbClr val="2A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64008" cy="296265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3B5A6"/>
                </a:solidFill>
                <a:latin typeface="Trebuchet MS"/>
              </a:rPr>
              <a:t>NOW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395728"/>
            <a:ext cx="146304" cy="146304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286000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Game + scoring works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816352"/>
            <a:ext cx="146304" cy="146304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706624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Board OCR + AI summary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236976"/>
            <a:ext cx="146304" cy="146304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127248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Voice + dictation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657600"/>
            <a:ext cx="146304" cy="146304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547872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Lesson report (HTML)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078224"/>
            <a:ext cx="146304" cy="146304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105 tests · mostly OpenVINO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06440" y="2926080"/>
            <a:ext cx="594360" cy="457200"/>
          </a:xfrm>
          <a:prstGeom prst="rightArrow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1554480"/>
            <a:ext cx="4937760" cy="3108960"/>
          </a:xfrm>
          <a:prstGeom prst="roundRect">
            <a:avLst>
              <a:gd name="adj" fmla="val 9000"/>
            </a:avLst>
          </a:prstGeom>
          <a:solidFill>
            <a:srgbClr val="17222E"/>
          </a:solidFill>
          <a:ln w="12700">
            <a:solidFill>
              <a:srgbClr val="2A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627632"/>
            <a:ext cx="64008" cy="2962656"/>
          </a:xfrm>
          <a:prstGeom prst="rect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1783080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E8973A"/>
                </a:solidFill>
                <a:latin typeface="Trebuchet MS"/>
              </a:rPr>
              <a:t>FINAL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2395728"/>
            <a:ext cx="146304" cy="146304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286000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Hand tracking on OpenVINO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2816352"/>
            <a:ext cx="146304" cy="146304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706624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Fully Intel CPU / GPU / NPU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3236976"/>
            <a:ext cx="146304" cy="146304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127248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Tuned teacher-voice ID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3657600"/>
            <a:ext cx="146304" cy="146304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547872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Classroom-ready demo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4078224"/>
            <a:ext cx="146304" cy="146304"/>
          </a:xfrm>
          <a:prstGeom prst="ellipse">
            <a:avLst/>
          </a:prstGeom>
          <a:solidFill>
            <a:srgbClr val="E8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968496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E6ECF2"/>
                </a:solidFill>
                <a:latin typeface="Calibri"/>
              </a:rPr>
              <a:t>Lesson report per session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983480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13222B"/>
          </a:solidFill>
          <a:ln w="12700">
            <a:solidFill>
              <a:srgbClr val="2A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056632"/>
            <a:ext cx="64008" cy="76809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3108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End-to-end pipeline works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4983480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13222B"/>
          </a:solidFill>
          <a:ln w="12700">
            <a:solidFill>
              <a:srgbClr val="2A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53128" y="5056632"/>
            <a:ext cx="64008" cy="76809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8" y="4983480"/>
            <a:ext cx="3108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All AI on OpenVINO — 1 gap left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74736" y="4983480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13222B"/>
          </a:solidFill>
          <a:ln w="12700">
            <a:solidFill>
              <a:srgbClr val="2A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74736" y="5056632"/>
            <a:ext cx="64008" cy="768096"/>
          </a:xfrm>
          <a:prstGeom prst="rect">
            <a:avLst/>
          </a:prstGeom>
          <a:solidFill>
            <a:srgbClr val="13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6" y="4983480"/>
            <a:ext cx="310896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Clear path to the final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